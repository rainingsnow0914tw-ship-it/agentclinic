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793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" roundtripDataSignature="AMtx7mgE5ei+gPArDoYVBmMjbb5rv34H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82F952-7C78-4076-BF5A-6DFFC5A4C665}" v="1" dt="2026-06-22T16:52:49.578"/>
  </p1510:revLst>
</p1510:revInfo>
</file>

<file path=ppt/tableStyles.xml><?xml version="1.0" encoding="utf-8"?>
<a:tblStyleLst xmlns:a="http://schemas.openxmlformats.org/drawingml/2006/main" def="{C6BD176B-B367-48D6-A09C-E4AB94313932}">
  <a:tblStyle styleId="{C6BD176B-B367-48D6-A09C-E4AB9431393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8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customschemas.google.com/relationships/presentationmetadata" Target="meta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loe Kao" userId="bb4ba457610281f6" providerId="LiveId" clId="{9047F6FF-CB24-4786-9DDB-3F579EE6F935}"/>
    <pc:docChg chg="custSel modSld">
      <pc:chgData name="Chloe Kao" userId="bb4ba457610281f6" providerId="LiveId" clId="{9047F6FF-CB24-4786-9DDB-3F579EE6F935}" dt="2026-06-22T16:57:06.378" v="32" actId="1076"/>
      <pc:docMkLst>
        <pc:docMk/>
      </pc:docMkLst>
      <pc:sldChg chg="modSp mod">
        <pc:chgData name="Chloe Kao" userId="bb4ba457610281f6" providerId="LiveId" clId="{9047F6FF-CB24-4786-9DDB-3F579EE6F935}" dt="2026-06-22T16:56:43.273" v="31" actId="1076"/>
        <pc:sldMkLst>
          <pc:docMk/>
          <pc:sldMk cId="0" sldId="256"/>
        </pc:sldMkLst>
        <pc:spChg chg="mod">
          <ac:chgData name="Chloe Kao" userId="bb4ba457610281f6" providerId="LiveId" clId="{9047F6FF-CB24-4786-9DDB-3F579EE6F935}" dt="2026-06-22T16:56:43.273" v="31" actId="1076"/>
          <ac:spMkLst>
            <pc:docMk/>
            <pc:sldMk cId="0" sldId="256"/>
            <ac:spMk id="168" creationId="{00000000-0000-0000-0000-000000000000}"/>
          </ac:spMkLst>
        </pc:spChg>
        <pc:spChg chg="mod">
          <ac:chgData name="Chloe Kao" userId="bb4ba457610281f6" providerId="LiveId" clId="{9047F6FF-CB24-4786-9DDB-3F579EE6F935}" dt="2026-06-22T16:56:27.209" v="29" actId="1076"/>
          <ac:spMkLst>
            <pc:docMk/>
            <pc:sldMk cId="0" sldId="256"/>
            <ac:spMk id="169" creationId="{00000000-0000-0000-0000-000000000000}"/>
          </ac:spMkLst>
        </pc:spChg>
      </pc:sldChg>
      <pc:sldChg chg="addSp delSp modSp mod">
        <pc:chgData name="Chloe Kao" userId="bb4ba457610281f6" providerId="LiveId" clId="{9047F6FF-CB24-4786-9DDB-3F579EE6F935}" dt="2026-06-22T16:52:54.850" v="28" actId="1076"/>
        <pc:sldMkLst>
          <pc:docMk/>
          <pc:sldMk cId="0" sldId="257"/>
        </pc:sldMkLst>
        <pc:picChg chg="add mod">
          <ac:chgData name="Chloe Kao" userId="bb4ba457610281f6" providerId="LiveId" clId="{9047F6FF-CB24-4786-9DDB-3F579EE6F935}" dt="2026-06-22T16:52:54.850" v="28" actId="1076"/>
          <ac:picMkLst>
            <pc:docMk/>
            <pc:sldMk cId="0" sldId="257"/>
            <ac:picMk id="3" creationId="{FD703920-C05B-E3C4-902B-8639EA088A43}"/>
          </ac:picMkLst>
        </pc:picChg>
        <pc:picChg chg="del">
          <ac:chgData name="Chloe Kao" userId="bb4ba457610281f6" providerId="LiveId" clId="{9047F6FF-CB24-4786-9DDB-3F579EE6F935}" dt="2026-06-22T16:50:49.503" v="24" actId="21"/>
          <ac:picMkLst>
            <pc:docMk/>
            <pc:sldMk cId="0" sldId="257"/>
            <ac:picMk id="174" creationId="{00000000-0000-0000-0000-000000000000}"/>
          </ac:picMkLst>
        </pc:picChg>
      </pc:sldChg>
      <pc:sldChg chg="modSp mod">
        <pc:chgData name="Chloe Kao" userId="bb4ba457610281f6" providerId="LiveId" clId="{9047F6FF-CB24-4786-9DDB-3F579EE6F935}" dt="2026-06-22T16:57:06.378" v="32" actId="1076"/>
        <pc:sldMkLst>
          <pc:docMk/>
          <pc:sldMk cId="0" sldId="259"/>
        </pc:sldMkLst>
        <pc:spChg chg="mod">
          <ac:chgData name="Chloe Kao" userId="bb4ba457610281f6" providerId="LiveId" clId="{9047F6FF-CB24-4786-9DDB-3F579EE6F935}" dt="2026-06-22T16:57:06.378" v="32" actId="1076"/>
          <ac:spMkLst>
            <pc:docMk/>
            <pc:sldMk cId="0" sldId="259"/>
            <ac:spMk id="201" creationId="{00000000-0000-0000-0000-000000000000}"/>
          </ac:spMkLst>
        </pc:spChg>
        <pc:spChg chg="mod">
          <ac:chgData name="Chloe Kao" userId="bb4ba457610281f6" providerId="LiveId" clId="{9047F6FF-CB24-4786-9DDB-3F579EE6F935}" dt="2026-06-22T16:48:17.234" v="2" actId="1076"/>
          <ac:spMkLst>
            <pc:docMk/>
            <pc:sldMk cId="0" sldId="259"/>
            <ac:spMk id="207" creationId="{00000000-0000-0000-0000-000000000000}"/>
          </ac:spMkLst>
        </pc:spChg>
        <pc:graphicFrameChg chg="mod modGraphic">
          <ac:chgData name="Chloe Kao" userId="bb4ba457610281f6" providerId="LiveId" clId="{9047F6FF-CB24-4786-9DDB-3F579EE6F935}" dt="2026-06-22T16:49:56.879" v="22" actId="1076"/>
          <ac:graphicFrameMkLst>
            <pc:docMk/>
            <pc:sldMk cId="0" sldId="259"/>
            <ac:graphicFrameMk id="203" creationId="{00000000-0000-0000-0000-000000000000}"/>
          </ac:graphicFrameMkLst>
        </pc:graphicFrameChg>
      </pc:sldChg>
      <pc:sldChg chg="modSp mod">
        <pc:chgData name="Chloe Kao" userId="bb4ba457610281f6" providerId="LiveId" clId="{9047F6FF-CB24-4786-9DDB-3F579EE6F935}" dt="2026-06-22T16:50:24.979" v="23" actId="1076"/>
        <pc:sldMkLst>
          <pc:docMk/>
          <pc:sldMk cId="0" sldId="262"/>
        </pc:sldMkLst>
        <pc:spChg chg="mod">
          <ac:chgData name="Chloe Kao" userId="bb4ba457610281f6" providerId="LiveId" clId="{9047F6FF-CB24-4786-9DDB-3F579EE6F935}" dt="2026-06-22T16:50:24.979" v="23" actId="1076"/>
          <ac:spMkLst>
            <pc:docMk/>
            <pc:sldMk cId="0" sldId="262"/>
            <ac:spMk id="22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Section Header">
    <p:bg>
      <p:bgPr>
        <a:solidFill>
          <a:srgbClr val="0BA2B3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89770" y="5461000"/>
            <a:ext cx="1524000" cy="120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9"/>
          <p:cNvSpPr/>
          <p:nvPr/>
        </p:nvSpPr>
        <p:spPr>
          <a:xfrm>
            <a:off x="3554946" y="4955133"/>
            <a:ext cx="2120057" cy="1"/>
          </a:xfrm>
          <a:custGeom>
            <a:avLst/>
            <a:gdLst/>
            <a:ahLst/>
            <a:cxnLst/>
            <a:rect l="l" t="t" r="r" b="b"/>
            <a:pathLst>
              <a:path w="21600" h="1200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body" idx="1"/>
          </p:nvPr>
        </p:nvSpPr>
        <p:spPr>
          <a:xfrm>
            <a:off x="640800" y="5886454"/>
            <a:ext cx="8280000" cy="451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9"/>
          <p:cNvSpPr txBox="1">
            <a:spLocks noGrp="1"/>
          </p:cNvSpPr>
          <p:nvPr>
            <p:ph type="title"/>
          </p:nvPr>
        </p:nvSpPr>
        <p:spPr>
          <a:xfrm>
            <a:off x="640800" y="4843803"/>
            <a:ext cx="8280000" cy="1037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  <a:defRPr sz="4000"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16" name="Google Shape;1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16196" y="435122"/>
            <a:ext cx="1116970" cy="363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logo">
  <p:cSld name="Slide with logo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10"/>
          <p:cNvSpPr/>
          <p:nvPr/>
        </p:nvSpPr>
        <p:spPr>
          <a:xfrm>
            <a:off x="10297948" y="1240221"/>
            <a:ext cx="1481958" cy="67266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3100"/>
              </a:buClr>
              <a:buSzPts val="2800"/>
              <a:buFont typeface="Arial"/>
              <a:buNone/>
            </a:pPr>
            <a:endParaRPr sz="2800" b="1" i="0" u="none" strike="noStrike" cap="none">
              <a:solidFill>
                <a:srgbClr val="B4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Google Shape;20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629023" y="362581"/>
            <a:ext cx="1150883" cy="430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2 Contents">
  <p:cSld name="Title and 2 Content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9650" y="0"/>
            <a:ext cx="6089650" cy="2087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692400"/>
            <a:ext cx="4178300" cy="416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1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body" idx="1"/>
          </p:nvPr>
        </p:nvSpPr>
        <p:spPr>
          <a:xfrm>
            <a:off x="36000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sz="14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11"/>
          <p:cNvSpPr txBox="1">
            <a:spLocks noGrp="1"/>
          </p:cNvSpPr>
          <p:nvPr>
            <p:ph type="body" idx="2"/>
          </p:nvPr>
        </p:nvSpPr>
        <p:spPr>
          <a:xfrm>
            <a:off x="360000" y="1799999"/>
            <a:ext cx="5040000" cy="4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11"/>
          <p:cNvSpPr txBox="1">
            <a:spLocks noGrp="1"/>
          </p:cNvSpPr>
          <p:nvPr>
            <p:ph type="body" idx="3"/>
          </p:nvPr>
        </p:nvSpPr>
        <p:spPr>
          <a:xfrm>
            <a:off x="608965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sz="14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4"/>
          </p:nvPr>
        </p:nvSpPr>
        <p:spPr>
          <a:xfrm>
            <a:off x="6089650" y="1799999"/>
            <a:ext cx="5040000" cy="4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" name="Google Shape;31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67661" y="404660"/>
            <a:ext cx="1063903" cy="346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ustom Layout">
  <p:cSld name="Custom Layou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/>
          <p:cNvSpPr txBox="1">
            <a:spLocks noGrp="1"/>
          </p:cNvSpPr>
          <p:nvPr>
            <p:ph type="title"/>
          </p:nvPr>
        </p:nvSpPr>
        <p:spPr>
          <a:xfrm>
            <a:off x="635128" y="4640687"/>
            <a:ext cx="9000000" cy="457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34" name="Google Shape;3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7966" y="362286"/>
            <a:ext cx="833598" cy="41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2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" name="Google Shape;36;p12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348" y="393566"/>
            <a:ext cx="6557643" cy="3556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29023" y="362581"/>
            <a:ext cx="1150883" cy="430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bg>
      <p:bgPr>
        <a:solidFill>
          <a:schemeClr val="accent1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97670" y="5461000"/>
            <a:ext cx="1816100" cy="120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529" y="190499"/>
            <a:ext cx="1816100" cy="1206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3"/>
          <p:cNvSpPr/>
          <p:nvPr/>
        </p:nvSpPr>
        <p:spPr>
          <a:xfrm>
            <a:off x="3554946" y="4955133"/>
            <a:ext cx="2120057" cy="1"/>
          </a:xfrm>
          <a:custGeom>
            <a:avLst/>
            <a:gdLst/>
            <a:ahLst/>
            <a:cxnLst/>
            <a:rect l="l" t="t" r="r" b="b"/>
            <a:pathLst>
              <a:path w="21600" h="1200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42" name="Google Shape;42;p13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1"/>
          </p:nvPr>
        </p:nvSpPr>
        <p:spPr>
          <a:xfrm>
            <a:off x="640800" y="5850000"/>
            <a:ext cx="3818481" cy="630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A322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A322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2"/>
          </p:nvPr>
        </p:nvSpPr>
        <p:spPr>
          <a:xfrm>
            <a:off x="640800" y="4574120"/>
            <a:ext cx="8822225" cy="914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subTitle" idx="3"/>
          </p:nvPr>
        </p:nvSpPr>
        <p:spPr>
          <a:xfrm>
            <a:off x="644227" y="2845823"/>
            <a:ext cx="8820000" cy="151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1666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6" name="Google Shape;46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21449" y="507429"/>
            <a:ext cx="1496116" cy="748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body" idx="1"/>
          </p:nvPr>
        </p:nvSpPr>
        <p:spPr>
          <a:xfrm>
            <a:off x="360000" y="144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sz="14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body" idx="2"/>
          </p:nvPr>
        </p:nvSpPr>
        <p:spPr>
          <a:xfrm>
            <a:off x="360000" y="1799999"/>
            <a:ext cx="9000000" cy="4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 Dark">
  <p:cSld name="Title and Content Dark">
    <p:bg>
      <p:bgPr>
        <a:solidFill>
          <a:schemeClr val="accent2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5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15"/>
          <p:cNvSpPr txBox="1">
            <a:spLocks noGrp="1"/>
          </p:cNvSpPr>
          <p:nvPr>
            <p:ph type="body" idx="1"/>
          </p:nvPr>
        </p:nvSpPr>
        <p:spPr>
          <a:xfrm>
            <a:off x="360000" y="144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  <a:defRPr sz="2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sz="14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2"/>
          </p:nvPr>
        </p:nvSpPr>
        <p:spPr>
          <a:xfrm>
            <a:off x="360000" y="1799999"/>
            <a:ext cx="9000000" cy="4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p15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and Content Teal">
  <p:cSld name="1_Title and Content Teal">
    <p:bg>
      <p:bgPr>
        <a:solidFill>
          <a:schemeClr val="accent4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body" idx="1"/>
          </p:nvPr>
        </p:nvSpPr>
        <p:spPr>
          <a:xfrm>
            <a:off x="360000" y="144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  <a:defRPr sz="2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sz="14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2"/>
          </p:nvPr>
        </p:nvSpPr>
        <p:spPr>
          <a:xfrm>
            <a:off x="360000" y="1799999"/>
            <a:ext cx="9000000" cy="4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16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only">
  <p:cSld name="Headline 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Headline only Dark">
  <p:cSld name="Headline only Dark">
    <p:bg>
      <p:bgPr>
        <a:solidFill>
          <a:schemeClr val="accent2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18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Headline only Teal">
  <p:cSld name="1_Headline only Teal">
    <p:bg>
      <p:bgPr>
        <a:solidFill>
          <a:schemeClr val="accent4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19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>
  <p:cSld name="Comparison">
    <p:bg>
      <p:bgPr>
        <a:solidFill>
          <a:schemeClr val="accent3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756788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0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title"/>
          </p:nvPr>
        </p:nvSpPr>
        <p:spPr>
          <a:xfrm>
            <a:off x="359999" y="1674394"/>
            <a:ext cx="504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body" idx="1"/>
          </p:nvPr>
        </p:nvSpPr>
        <p:spPr>
          <a:xfrm>
            <a:off x="6480000" y="1674393"/>
            <a:ext cx="504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" name="Google Shape;84;p20"/>
          <p:cNvSpPr txBox="1">
            <a:spLocks noGrp="1"/>
          </p:cNvSpPr>
          <p:nvPr>
            <p:ph type="body" idx="2"/>
          </p:nvPr>
        </p:nvSpPr>
        <p:spPr>
          <a:xfrm>
            <a:off x="6480000" y="2834245"/>
            <a:ext cx="5040000" cy="3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528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680"/>
              <a:buFont typeface="Arial"/>
              <a:buChar char="•"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20"/>
          <p:cNvSpPr txBox="1">
            <a:spLocks noGrp="1"/>
          </p:cNvSpPr>
          <p:nvPr>
            <p:ph type="body" idx="3"/>
          </p:nvPr>
        </p:nvSpPr>
        <p:spPr>
          <a:xfrm>
            <a:off x="360000" y="2834245"/>
            <a:ext cx="5040000" cy="3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528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20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Slide">
  <p:cSld name="Quote Slide">
    <p:bg>
      <p:bgPr>
        <a:solidFill>
          <a:schemeClr val="accent2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/>
          <p:nvPr/>
        </p:nvSpPr>
        <p:spPr>
          <a:xfrm>
            <a:off x="3554946" y="4955133"/>
            <a:ext cx="2120057" cy="1"/>
          </a:xfrm>
          <a:custGeom>
            <a:avLst/>
            <a:gdLst/>
            <a:ahLst/>
            <a:cxnLst/>
            <a:rect l="l" t="t" r="r" b="b"/>
            <a:pathLst>
              <a:path w="21600" h="1200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90" name="Google Shape;90;p21"/>
          <p:cNvSpPr txBox="1"/>
          <p:nvPr/>
        </p:nvSpPr>
        <p:spPr>
          <a:xfrm>
            <a:off x="1343734" y="2179914"/>
            <a:ext cx="239177" cy="327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Arial"/>
              <a:buNone/>
            </a:pPr>
            <a:r>
              <a:rPr lang="en-US" sz="3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91" name="Google Shape;91;p21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1"/>
          <p:cNvSpPr/>
          <p:nvPr/>
        </p:nvSpPr>
        <p:spPr>
          <a:xfrm rot="10800000" flipH="1">
            <a:off x="9366432" y="5569929"/>
            <a:ext cx="505472" cy="505473"/>
          </a:xfrm>
          <a:prstGeom prst="rect">
            <a:avLst/>
          </a:prstGeom>
          <a:solidFill>
            <a:srgbClr val="0BA2B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1"/>
          <p:cNvSpPr txBox="1">
            <a:spLocks noGrp="1"/>
          </p:cNvSpPr>
          <p:nvPr>
            <p:ph type="title"/>
          </p:nvPr>
        </p:nvSpPr>
        <p:spPr>
          <a:xfrm>
            <a:off x="1591200" y="2187168"/>
            <a:ext cx="8405525" cy="1977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  <a:defRPr sz="3800"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1"/>
          <p:cNvSpPr txBox="1">
            <a:spLocks noGrp="1"/>
          </p:cNvSpPr>
          <p:nvPr>
            <p:ph type="body" idx="1"/>
          </p:nvPr>
        </p:nvSpPr>
        <p:spPr>
          <a:xfrm>
            <a:off x="1591200" y="4421963"/>
            <a:ext cx="7025229" cy="8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95" name="Google Shape;95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374886" y="5067046"/>
            <a:ext cx="2006600" cy="100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photo">
  <p:cSld name="Content with photo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>
            <a:spLocks noGrp="1"/>
          </p:cNvSpPr>
          <p:nvPr>
            <p:ph type="pic" idx="2"/>
          </p:nvPr>
        </p:nvSpPr>
        <p:spPr>
          <a:xfrm>
            <a:off x="7937500" y="1447601"/>
            <a:ext cx="4241800" cy="5410399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22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2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22"/>
          <p:cNvSpPr txBox="1">
            <a:spLocks noGrp="1"/>
          </p:cNvSpPr>
          <p:nvPr>
            <p:ph type="body" idx="1"/>
          </p:nvPr>
        </p:nvSpPr>
        <p:spPr>
          <a:xfrm>
            <a:off x="360000" y="1440000"/>
            <a:ext cx="72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sz="14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22"/>
          <p:cNvSpPr txBox="1">
            <a:spLocks noGrp="1"/>
          </p:cNvSpPr>
          <p:nvPr>
            <p:ph type="body" idx="3"/>
          </p:nvPr>
        </p:nvSpPr>
        <p:spPr>
          <a:xfrm>
            <a:off x="360000" y="1799999"/>
            <a:ext cx="7200000" cy="4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03" name="Google Shape;103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37500" y="3935445"/>
            <a:ext cx="965200" cy="96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2"/>
          <p:cNvSpPr txBox="1">
            <a:spLocks noGrp="1"/>
          </p:cNvSpPr>
          <p:nvPr>
            <p:ph type="body" idx="4"/>
          </p:nvPr>
        </p:nvSpPr>
        <p:spPr>
          <a:xfrm>
            <a:off x="2793987" y="4888595"/>
            <a:ext cx="6980036" cy="1969405"/>
          </a:xfrm>
          <a:prstGeom prst="rect">
            <a:avLst/>
          </a:prstGeom>
          <a:solidFill>
            <a:srgbClr val="CCF2FF"/>
          </a:solidFill>
          <a:ln>
            <a:noFill/>
          </a:ln>
        </p:spPr>
        <p:txBody>
          <a:bodyPr spcFirstLastPara="1" wrap="square" lIns="317500" tIns="317500" rIns="317500" bIns="317500" anchor="t" anchorCtr="0">
            <a:noAutofit/>
          </a:bodyPr>
          <a:lstStyle>
            <a:lvl1pPr marL="457200" marR="0" lvl="0" indent="-228600" algn="l" rtl="0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Arial"/>
              <a:buNone/>
              <a:defRPr sz="19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" name="Google Shape;105;p22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OC Slide 4">
  <p:cSld name="TOC Slide 4">
    <p:bg>
      <p:bgPr>
        <a:solidFill>
          <a:schemeClr val="accent4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3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3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23"/>
          <p:cNvSpPr txBox="1">
            <a:spLocks noGrp="1"/>
          </p:cNvSpPr>
          <p:nvPr>
            <p:ph type="body" idx="1"/>
          </p:nvPr>
        </p:nvSpPr>
        <p:spPr>
          <a:xfrm>
            <a:off x="36000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" name="Google Shape;110;p23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3"/>
          <p:cNvSpPr txBox="1">
            <a:spLocks noGrp="1"/>
          </p:cNvSpPr>
          <p:nvPr>
            <p:ph type="body" idx="2"/>
          </p:nvPr>
        </p:nvSpPr>
        <p:spPr>
          <a:xfrm>
            <a:off x="322999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" name="Google Shape;112;p23"/>
          <p:cNvSpPr txBox="1">
            <a:spLocks noGrp="1"/>
          </p:cNvSpPr>
          <p:nvPr>
            <p:ph type="body" idx="3"/>
          </p:nvPr>
        </p:nvSpPr>
        <p:spPr>
          <a:xfrm>
            <a:off x="609998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" name="Google Shape;113;p23"/>
          <p:cNvSpPr txBox="1">
            <a:spLocks noGrp="1"/>
          </p:cNvSpPr>
          <p:nvPr>
            <p:ph type="body" idx="4"/>
          </p:nvPr>
        </p:nvSpPr>
        <p:spPr>
          <a:xfrm>
            <a:off x="896997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14" name="Google Shape;114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OC Slide 8">
  <p:cSld name="TOC Slide 8">
    <p:bg>
      <p:bgPr>
        <a:solidFill>
          <a:schemeClr val="accent4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4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24"/>
          <p:cNvSpPr txBox="1">
            <a:spLocks noGrp="1"/>
          </p:cNvSpPr>
          <p:nvPr>
            <p:ph type="body" idx="1"/>
          </p:nvPr>
        </p:nvSpPr>
        <p:spPr>
          <a:xfrm>
            <a:off x="36000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" name="Google Shape;119;p24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4"/>
          <p:cNvSpPr txBox="1">
            <a:spLocks noGrp="1"/>
          </p:cNvSpPr>
          <p:nvPr>
            <p:ph type="body" idx="2"/>
          </p:nvPr>
        </p:nvSpPr>
        <p:spPr>
          <a:xfrm>
            <a:off x="322999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3"/>
          </p:nvPr>
        </p:nvSpPr>
        <p:spPr>
          <a:xfrm>
            <a:off x="609998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body" idx="4"/>
          </p:nvPr>
        </p:nvSpPr>
        <p:spPr>
          <a:xfrm>
            <a:off x="896997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body" idx="5"/>
          </p:nvPr>
        </p:nvSpPr>
        <p:spPr>
          <a:xfrm>
            <a:off x="36000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body" idx="6"/>
          </p:nvPr>
        </p:nvSpPr>
        <p:spPr>
          <a:xfrm>
            <a:off x="322999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5" name="Google Shape;125;p24"/>
          <p:cNvSpPr txBox="1">
            <a:spLocks noGrp="1"/>
          </p:cNvSpPr>
          <p:nvPr>
            <p:ph type="body" idx="7"/>
          </p:nvPr>
        </p:nvSpPr>
        <p:spPr>
          <a:xfrm>
            <a:off x="609998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6" name="Google Shape;126;p24"/>
          <p:cNvSpPr txBox="1">
            <a:spLocks noGrp="1"/>
          </p:cNvSpPr>
          <p:nvPr>
            <p:ph type="body" idx="8"/>
          </p:nvPr>
        </p:nvSpPr>
        <p:spPr>
          <a:xfrm>
            <a:off x="896997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27" name="Google Shape;127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genda slide Table Dark">
  <p:cSld name="Agenda slide Table Dark">
    <p:bg>
      <p:bgPr>
        <a:solidFill>
          <a:schemeClr val="accent2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5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" name="Google Shape;131;p25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genda slide Table">
  <p:cSld name="Agenda slide Table">
    <p:bg>
      <p:bgPr>
        <a:solidFill>
          <a:schemeClr val="accent4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6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26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ement">
  <p:cSld name="Statemen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7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p27"/>
          <p:cNvSpPr txBox="1">
            <a:spLocks noGrp="1"/>
          </p:cNvSpPr>
          <p:nvPr>
            <p:ph type="body" idx="1"/>
          </p:nvPr>
        </p:nvSpPr>
        <p:spPr>
          <a:xfrm>
            <a:off x="360000" y="2610760"/>
            <a:ext cx="3478685" cy="21082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" name="Google Shape;142;p27"/>
          <p:cNvSpPr txBox="1">
            <a:spLocks noGrp="1"/>
          </p:cNvSpPr>
          <p:nvPr>
            <p:ph type="body" idx="2"/>
          </p:nvPr>
        </p:nvSpPr>
        <p:spPr>
          <a:xfrm>
            <a:off x="4308328" y="2610760"/>
            <a:ext cx="3478685" cy="21082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" name="Google Shape;143;p27"/>
          <p:cNvSpPr txBox="1">
            <a:spLocks noGrp="1"/>
          </p:cNvSpPr>
          <p:nvPr>
            <p:ph type="body" idx="3"/>
          </p:nvPr>
        </p:nvSpPr>
        <p:spPr>
          <a:xfrm>
            <a:off x="8256655" y="2610760"/>
            <a:ext cx="3478685" cy="21082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lide with logo Dark">
  <p:cSld name="Slide with logo Dark">
    <p:bg>
      <p:bgPr>
        <a:solidFill>
          <a:schemeClr val="accent2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6" name="Google Shape;146;p28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Slide with logo Teal">
  <p:cSld name="1_Slide with logo Teal">
    <p:bg>
      <p:bgPr>
        <a:solidFill>
          <a:schemeClr val="accent4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" name="Google Shape;150;p29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Slide">
  <p:cSld name="Thank You Slide">
    <p:bg>
      <p:bgPr>
        <a:solidFill>
          <a:schemeClr val="accent1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0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30" descr="Imag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0348" y="393566"/>
            <a:ext cx="6557644" cy="355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0"/>
          <p:cNvSpPr txBox="1">
            <a:spLocks noGrp="1"/>
          </p:cNvSpPr>
          <p:nvPr>
            <p:ph type="body" idx="1"/>
          </p:nvPr>
        </p:nvSpPr>
        <p:spPr>
          <a:xfrm>
            <a:off x="617538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6" name="Google Shape;156;p30"/>
          <p:cNvSpPr txBox="1">
            <a:spLocks noGrp="1"/>
          </p:cNvSpPr>
          <p:nvPr>
            <p:ph type="body" idx="2"/>
          </p:nvPr>
        </p:nvSpPr>
        <p:spPr>
          <a:xfrm>
            <a:off x="3473690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7" name="Google Shape;157;p30"/>
          <p:cNvSpPr txBox="1">
            <a:spLocks noGrp="1"/>
          </p:cNvSpPr>
          <p:nvPr>
            <p:ph type="body" idx="3"/>
          </p:nvPr>
        </p:nvSpPr>
        <p:spPr>
          <a:xfrm>
            <a:off x="6329842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8" name="Google Shape;158;p30"/>
          <p:cNvSpPr txBox="1">
            <a:spLocks noGrp="1"/>
          </p:cNvSpPr>
          <p:nvPr>
            <p:ph type="body" idx="4"/>
          </p:nvPr>
        </p:nvSpPr>
        <p:spPr>
          <a:xfrm>
            <a:off x="9185994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9" name="Google Shape;159;p30"/>
          <p:cNvSpPr txBox="1">
            <a:spLocks noGrp="1"/>
          </p:cNvSpPr>
          <p:nvPr>
            <p:ph type="body" idx="5"/>
          </p:nvPr>
        </p:nvSpPr>
        <p:spPr>
          <a:xfrm>
            <a:off x="617538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0" name="Google Shape;160;p30"/>
          <p:cNvSpPr txBox="1">
            <a:spLocks noGrp="1"/>
          </p:cNvSpPr>
          <p:nvPr>
            <p:ph type="body" idx="6"/>
          </p:nvPr>
        </p:nvSpPr>
        <p:spPr>
          <a:xfrm>
            <a:off x="3473690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1" name="Google Shape;161;p30"/>
          <p:cNvSpPr txBox="1">
            <a:spLocks noGrp="1"/>
          </p:cNvSpPr>
          <p:nvPr>
            <p:ph type="body" idx="7"/>
          </p:nvPr>
        </p:nvSpPr>
        <p:spPr>
          <a:xfrm>
            <a:off x="6329842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2" name="Google Shape;162;p30"/>
          <p:cNvSpPr txBox="1">
            <a:spLocks noGrp="1"/>
          </p:cNvSpPr>
          <p:nvPr>
            <p:ph type="body" idx="8"/>
          </p:nvPr>
        </p:nvSpPr>
        <p:spPr>
          <a:xfrm>
            <a:off x="9185994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63" name="Google Shape;163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" name="Google Shape;7;p8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8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9" name="Google Shape;9;p8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10897966" y="362286"/>
            <a:ext cx="833598" cy="41679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"/>
          <p:cNvSpPr txBox="1">
            <a:spLocks noGrp="1"/>
          </p:cNvSpPr>
          <p:nvPr>
            <p:ph type="body" idx="1"/>
          </p:nvPr>
        </p:nvSpPr>
        <p:spPr>
          <a:xfrm>
            <a:off x="579431" y="5073737"/>
            <a:ext cx="82800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dirty="0"/>
              <a:t>UiPath </a:t>
            </a:r>
            <a:r>
              <a:rPr lang="en-US" dirty="0" err="1"/>
              <a:t>AgentHack</a:t>
            </a:r>
            <a:r>
              <a:rPr lang="en-US" dirty="0"/>
              <a:t>. Build the AI agents of tomorrow. </a:t>
            </a:r>
            <a:endParaRPr dirty="0"/>
          </a:p>
        </p:txBody>
      </p:sp>
      <p:sp>
        <p:nvSpPr>
          <p:cNvPr id="169" name="Google Shape;169;p1"/>
          <p:cNvSpPr txBox="1">
            <a:spLocks noGrp="1"/>
          </p:cNvSpPr>
          <p:nvPr>
            <p:ph type="title"/>
          </p:nvPr>
        </p:nvSpPr>
        <p:spPr>
          <a:xfrm>
            <a:off x="579431" y="1558363"/>
            <a:ext cx="8280000" cy="1037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en-US" dirty="0" err="1"/>
              <a:t>AgentClinic</a:t>
            </a:r>
            <a:br>
              <a:rPr lang="en-US" dirty="0"/>
            </a:br>
            <a:endParaRPr dirty="0"/>
          </a:p>
          <a:p>
            <a:r>
              <a:rPr dirty="0"/>
              <a:t>Forensic analysis for AI agents, native to UiPath Test Cloud.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"/>
          <p:cNvSpPr/>
          <p:nvPr/>
        </p:nvSpPr>
        <p:spPr>
          <a:xfrm>
            <a:off x="308294" y="4436925"/>
            <a:ext cx="2710314" cy="489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1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Chloe Kao</a:t>
            </a:r>
            <a:endParaRPr/>
          </a:p>
        </p:txBody>
      </p:sp>
      <p:sp>
        <p:nvSpPr>
          <p:cNvPr id="176" name="Google Shape;176;p2"/>
          <p:cNvSpPr/>
          <p:nvPr/>
        </p:nvSpPr>
        <p:spPr>
          <a:xfrm>
            <a:off x="342659" y="5063729"/>
            <a:ext cx="2710691" cy="1141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Independent Builder</a:t>
            </a:r>
            <a:endParaRPr/>
          </a:p>
          <a:p>
            <a:r>
              <a:t>rainingsnow0914.tw@gmail.com</a:t>
            </a:r>
          </a:p>
        </p:txBody>
      </p:sp>
      <p:sp>
        <p:nvSpPr>
          <p:cNvPr id="186" name="Google Shape;186;p2"/>
          <p:cNvSpPr txBox="1"/>
          <p:nvPr/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Individual submission</a:t>
            </a:r>
            <a:br>
              <a:rPr lang="en-US"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3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t>AgentClinic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D703920-C05B-E3C4-902B-8639EA088A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2100" y="1966580"/>
            <a:ext cx="2225233" cy="22252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24"/>
              </a:buClr>
              <a:buSzPts val="3000"/>
              <a:buFont typeface="Arial"/>
              <a:buNone/>
            </a:pPr>
            <a:r>
              <a:rPr lang="en-US">
                <a:solidFill>
                  <a:srgbClr val="172024"/>
                </a:solidFill>
              </a:rPr>
              <a:t>Problem statement and proposed solution</a:t>
            </a:r>
            <a:endParaRPr>
              <a:solidFill>
                <a:srgbClr val="172024"/>
              </a:solidFill>
            </a:endParaRPr>
          </a:p>
        </p:txBody>
      </p:sp>
      <p:sp>
        <p:nvSpPr>
          <p:cNvPr id="192" name="Google Shape;192;p3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93" name="Google Shape;193;p3"/>
          <p:cNvSpPr txBox="1">
            <a:spLocks noGrp="1"/>
          </p:cNvSpPr>
          <p:nvPr>
            <p:ph type="body" idx="1"/>
          </p:nvPr>
        </p:nvSpPr>
        <p:spPr>
          <a:xfrm>
            <a:off x="36000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/>
              <a:t>Problem</a:t>
            </a:r>
            <a:endParaRPr/>
          </a:p>
        </p:txBody>
      </p:sp>
      <p:sp>
        <p:nvSpPr>
          <p:cNvPr id="194" name="Google Shape;194;p3"/>
          <p:cNvSpPr txBox="1">
            <a:spLocks noGrp="1"/>
          </p:cNvSpPr>
          <p:nvPr>
            <p:ph type="body" idx="2"/>
          </p:nvPr>
        </p:nvSpPr>
        <p:spPr>
          <a:xfrm>
            <a:off x="360000" y="1799999"/>
            <a:ext cx="5040000" cy="4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/>
              <a:t>AI agents ship to production without the testing discipline traditional software took decades to earn.</a:t>
            </a:r>
            <a:endParaRPr/>
          </a:p>
          <a:p>
            <a:r>
              <a:t>Existing eval harnesses score outputs but cannot point at the trace event that drove the verdict — review becomes vibes, the same blind retry burns tokens release after release, debug is post-incident.</a:t>
            </a:r>
          </a:p>
          <a:p>
            <a:r>
              <a:t>Quality gates that work for traditional software do not cover AI agents.</a:t>
            </a:r>
          </a:p>
        </p:txBody>
      </p:sp>
      <p:sp>
        <p:nvSpPr>
          <p:cNvPr id="195" name="Google Shape;195;p3"/>
          <p:cNvSpPr txBox="1">
            <a:spLocks noGrp="1"/>
          </p:cNvSpPr>
          <p:nvPr>
            <p:ph type="body" idx="3"/>
          </p:nvPr>
        </p:nvSpPr>
        <p:spPr>
          <a:xfrm>
            <a:off x="608965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/>
              <a:t>Solution</a:t>
            </a:r>
            <a:endParaRPr/>
          </a:p>
        </p:txBody>
      </p:sp>
      <p:sp>
        <p:nvSpPr>
          <p:cNvPr id="196" name="Google Shape;196;p3"/>
          <p:cNvSpPr txBox="1">
            <a:spLocks noGrp="1"/>
          </p:cNvSpPr>
          <p:nvPr>
            <p:ph type="body" idx="4"/>
          </p:nvPr>
        </p:nvSpPr>
        <p:spPr>
          <a:xfrm>
            <a:off x="6089650" y="1799999"/>
            <a:ext cx="5040000" cy="4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/>
              <a:t>AgentClinic — a pre-production clinic for AI agents.</a:t>
            </a:r>
            <a:endParaRPr/>
          </a:p>
          <a:p>
            <a:r>
              <a:t>Trace in, forensic report out. Every finding bound to specific trace_event_ids as evidence (no finding without an evidence span). Published natively into UiPath Test Cloud as Test Sets / Executions / per-pattern Case Logs.</a:t>
            </a:r>
          </a:p>
          <a:p>
            <a:r>
              <a:t>Judge (deterministic rule engine) and Coach (LLM, bounded) separated by a code-level contract. The LLM translates findings into remediation — it cannot revise the verdict. Coach, not surveillance.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"/>
          <p:cNvSpPr txBox="1"/>
          <p:nvPr/>
        </p:nvSpPr>
        <p:spPr>
          <a:xfrm>
            <a:off x="259203" y="281704"/>
            <a:ext cx="9000000" cy="499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3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Benefits and technologies used</a:t>
            </a:r>
            <a:endParaRPr sz="30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graphicFrame>
        <p:nvGraphicFramePr>
          <p:cNvPr id="203" name="Google Shape;203;p4"/>
          <p:cNvGraphicFramePr/>
          <p:nvPr>
            <p:extLst>
              <p:ext uri="{D42A27DB-BD31-4B8C-83A1-F6EECF244321}">
                <p14:modId xmlns:p14="http://schemas.microsoft.com/office/powerpoint/2010/main" val="3314733199"/>
              </p:ext>
            </p:extLst>
          </p:nvPr>
        </p:nvGraphicFramePr>
        <p:xfrm>
          <a:off x="359999" y="1395804"/>
          <a:ext cx="5783051" cy="5238084"/>
        </p:xfrm>
        <a:graphic>
          <a:graphicData uri="http://schemas.openxmlformats.org/drawingml/2006/table">
            <a:tbl>
              <a:tblPr>
                <a:noFill/>
                <a:tableStyleId>{C6BD176B-B367-48D6-A09C-E4AB94313932}</a:tableStyleId>
              </a:tblPr>
              <a:tblGrid>
                <a:gridCol w="2892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06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936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End-user​</a:t>
                      </a:r>
                      <a:endParaRPr sz="1800" b="1" i="0" u="none" strike="noStrike" cap="none" dirty="0">
                        <a:solidFill>
                          <a:srgbClr val="FFFFFF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32C4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2C4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375" cap="flat" cmpd="sng">
                      <a:solidFill>
                        <a:srgbClr val="DF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AI agent platform engineers · ML platform teams · QA leads</a:t>
                      </a:r>
                      <a:endParaRPr sz="1800" b="1" i="0" u="none" strike="noStrike" cap="none" dirty="0">
                        <a:solidFill>
                          <a:srgbClr val="FFFFFF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2C4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2C4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375" cap="flat" cmpd="sng">
                      <a:solidFill>
                        <a:srgbClr val="DF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A2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52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 department</a:t>
                      </a: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​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32C4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375" cap="flat" cmpd="sng">
                      <a:solidFill>
                        <a:srgbClr val="DF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375" cap="flat" cmpd="sng">
                      <a:solidFill>
                        <a:srgbClr val="DF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Engineering · Platform · SRE · Developer Experience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2C4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375" cap="flat" cmpd="sng">
                      <a:solidFill>
                        <a:srgbClr val="DF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375" cap="flat" cmpd="sng">
                      <a:solidFill>
                        <a:srgbClr val="DF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A2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316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Industries</a:t>
                      </a: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​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32C4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375" cap="flat" cmpd="sng">
                      <a:solidFill>
                        <a:srgbClr val="DF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375" cap="flat" cmpd="sng">
                      <a:solidFill>
                        <a:srgbClr val="DF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Enterprise SaaS · AI infrastructure · any vertical deploying AI agents to production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2C4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375" cap="flat" cmpd="sng">
                      <a:solidFill>
                        <a:srgbClr val="DF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375" cap="flat" cmpd="sng">
                      <a:solidFill>
                        <a:srgbClr val="DF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A2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075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UiPath products used</a:t>
                      </a: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​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32C4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375" cap="flat" cmpd="sng">
                      <a:solidFill>
                        <a:srgbClr val="DF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375" cap="flat" cmpd="sng">
                      <a:solidFill>
                        <a:srgbClr val="DF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 Cloud (Test Manager) · Coded Agent (Function) · Orchestrator Process · </a:t>
                      </a:r>
                      <a:r>
                        <a:rPr lang="en-US" sz="18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AgentHub</a:t>
                      </a: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LLM Gateway · AI Trust Layer · External Application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2C4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375" cap="flat" cmpd="sng">
                      <a:solidFill>
                        <a:srgbClr val="DF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375" cap="flat" cmpd="sng">
                      <a:solidFill>
                        <a:srgbClr val="DF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A2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316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Other - integrations / APIs / technologies used</a:t>
                      </a: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​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32C4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375" cap="flat" cmpd="sng">
                      <a:solidFill>
                        <a:srgbClr val="DF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2C4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Python 3.11+ · </a:t>
                      </a:r>
                      <a:r>
                        <a:rPr lang="en-US" sz="18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Pydantic</a:t>
                      </a: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· </a:t>
                      </a:r>
                      <a:r>
                        <a:rPr lang="en-US" sz="18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jsonschema</a:t>
                      </a: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· Claude Code (</a:t>
                      </a:r>
                      <a:r>
                        <a:rPr lang="en-US" sz="18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AgentHack</a:t>
                      </a: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Coding Agents bonus)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2C4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375" cap="flat" cmpd="sng">
                      <a:solidFill>
                        <a:srgbClr val="DF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2C4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A2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4" name="Google Shape;204;p4"/>
          <p:cNvSpPr/>
          <p:nvPr/>
        </p:nvSpPr>
        <p:spPr>
          <a:xfrm>
            <a:off x="359999" y="859929"/>
            <a:ext cx="1039831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4"/>
          <p:cNvSpPr/>
          <p:nvPr/>
        </p:nvSpPr>
        <p:spPr>
          <a:xfrm>
            <a:off x="6422266" y="770263"/>
            <a:ext cx="5497831" cy="489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Benefits, impact and outcomes</a:t>
            </a:r>
            <a:endParaRPr/>
          </a:p>
        </p:txBody>
      </p:sp>
      <p:sp>
        <p:nvSpPr>
          <p:cNvPr id="206" name="Google Shape;206;p4"/>
          <p:cNvSpPr txBox="1"/>
          <p:nvPr/>
        </p:nvSpPr>
        <p:spPr>
          <a:xfrm>
            <a:off x="6318751" y="1506260"/>
            <a:ext cx="5500550" cy="4426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Quality shifts from late-stage checkpoint to a continuous, governed capability across every release.</a:t>
            </a:r>
            <a:endParaRPr/>
          </a:p>
          <a:p>
            <a:r>
              <a:t>Every finding auditable via Test Cloud Case Log + evidence-bound override-result reason.</a:t>
            </a:r>
          </a:p>
          <a:p>
            <a:r>
              <a:t>No direct LLM provider API key — coach calls ride UiPath's AI Trust Layer for audit + PII redaction.</a:t>
            </a:r>
          </a:p>
          <a:p>
            <a:r>
              <a:t>Re-runnable on the same trace (idempotent per-pattern Test Cases).</a:t>
            </a:r>
          </a:p>
          <a:p>
            <a:r>
              <a:t>Production error matrix documented — 7 failure modes line-numbered in the repo.</a:t>
            </a:r>
          </a:p>
        </p:txBody>
      </p:sp>
      <p:sp>
        <p:nvSpPr>
          <p:cNvPr id="207" name="Google Shape;207;p4"/>
          <p:cNvSpPr/>
          <p:nvPr/>
        </p:nvSpPr>
        <p:spPr>
          <a:xfrm>
            <a:off x="359999" y="854833"/>
            <a:ext cx="5497831" cy="489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golden traces published live to Test Cloud project ACR2.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13" name="Google Shape;213;p5"/>
          <p:cNvSpPr/>
          <p:nvPr/>
        </p:nvSpPr>
        <p:spPr>
          <a:xfrm>
            <a:off x="359999" y="859929"/>
            <a:ext cx="1039831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5"/>
          <p:cNvSpPr txBox="1"/>
          <p:nvPr/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 architecture</a:t>
            </a:r>
            <a:endParaRPr sz="3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5"/>
          <p:cNvSpPr txBox="1"/>
          <p:nvPr/>
        </p:nvSpPr>
        <p:spPr>
          <a:xfrm>
            <a:off x="359999" y="1506260"/>
            <a:ext cx="11459302" cy="4426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Four roles, no overlap: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t>JUDGE — deterministic Python rule engine, no LLM</a:t>
            </a:r>
          </a:p>
          <a:p>
            <a:r>
              <a:t>COACH — LLM via AgentHub LLM Gateway, bounded by validator (forbidden to judge)</a:t>
            </a:r>
          </a:p>
          <a:p>
            <a:r>
              <a:t>RECORDER — UiPath Test Cloud, Test Manager REST v2</a:t>
            </a:r>
          </a:p>
          <a:p>
            <a:r>
              <a:t>ORCHESTRATOR — UiPath Orchestrator Process + AI Trust Layer audit</a:t>
            </a:r>
          </a:p>
          <a:p>
            <a:endParaRPr/>
          </a:p>
          <a:p>
            <a:r>
              <a:t>Pipeline: trace → normalize → detect (7 patterns) → score (L0–L3) → coach (optional) → publish</a:t>
            </a:r>
          </a:p>
          <a:p>
            <a:endParaRPr/>
          </a:p>
          <a:p>
            <a:r>
              <a:t>Publish chain: Project (idempotent) → Test Case (per pattern, reusable) → Test Set (per publish) → Execution → Case Log + override-result reason + report.md attached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359999" y="859929"/>
            <a:ext cx="1039831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6"/>
          <p:cNvSpPr txBox="1"/>
          <p:nvPr/>
        </p:nvSpPr>
        <p:spPr>
          <a:xfrm>
            <a:off x="359999" y="518044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Live evidence in UiPath Test Cloud (project ACR2)</a:t>
            </a:r>
            <a:endParaRPr sz="3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"/>
          <p:cNvSpPr txBox="1"/>
          <p:nvPr/>
        </p:nvSpPr>
        <p:spPr>
          <a:xfrm>
            <a:off x="359999" y="1506260"/>
            <a:ext cx="11459302" cy="4426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Five golden traces published with --coach uipath, covering score levels L0 through L3:</a:t>
            </a:r>
            <a:endParaRPr/>
          </a:p>
          <a:p>
            <a:endParaRPr/>
          </a:p>
          <a:p>
            <a:r>
              <a:t>01 hard_hat_loop — blind retry, state unchanged → Failed · 0.0 / L3 · Test Set ACR2:79</a:t>
            </a:r>
          </a:p>
          <a:p>
            <a:r>
              <a:t>02 clean_run — negative sample → Passed · 100 / L0 · Test Set ACR2:80</a:t>
            </a:r>
          </a:p>
          <a:p>
            <a:r>
              <a:t>03 redundant_and_full_read — 2 patterns fire → Failed×2 · 70 / L1 · Test Set ACR2:81</a:t>
            </a:r>
          </a:p>
          <a:p>
            <a:r>
              <a:t>04 unverified_claim_missing_tokens → Failed · 40 / L2 · Test Set ACR2:82</a:t>
            </a:r>
          </a:p>
          <a:p>
            <a:r>
              <a:t>05 interleaved_think_retry → Failed · 0.0 / L3 · Test Set ACR2:84</a:t>
            </a:r>
          </a:p>
          <a:p>
            <a:endParaRPr/>
          </a:p>
          <a:p>
            <a:r>
              <a:t>All five live in Test Cloud as concrete artifacts — not paper claims.</a:t>
            </a:r>
          </a:p>
          <a:p>
            <a:r>
              <a:t>Each Test Case Log carries a multi-line evidence-bound reason that names the specific trace_event_ids driving the verdict, plus the full report.md as an attachment.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7"/>
          <p:cNvSpPr txBox="1">
            <a:spLocks noGrp="1"/>
          </p:cNvSpPr>
          <p:nvPr>
            <p:ph type="title"/>
          </p:nvPr>
        </p:nvSpPr>
        <p:spPr>
          <a:xfrm>
            <a:off x="665812" y="3664918"/>
            <a:ext cx="9000000" cy="457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dirty="0" err="1"/>
              <a:t>AgentClinic</a:t>
            </a:r>
            <a:r>
              <a:rPr lang="en-US" dirty="0"/>
              <a:t> — coach, not surveillance.</a:t>
            </a:r>
            <a:endParaRPr dirty="0"/>
          </a:p>
          <a:p>
            <a:endParaRPr dirty="0"/>
          </a:p>
          <a:p>
            <a:r>
              <a:rPr dirty="0"/>
              <a:t>Drop a trace in. Get an audit trail.</a:t>
            </a:r>
          </a:p>
          <a:p>
            <a:endParaRPr dirty="0"/>
          </a:p>
          <a:p>
            <a:r>
              <a:rPr dirty="0"/>
              <a:t>github.com/rainingsnow0914tw-ship-it/</a:t>
            </a:r>
            <a:r>
              <a:rPr dirty="0" err="1"/>
              <a:t>agentclinic</a:t>
            </a:r>
            <a:endParaRPr dirty="0"/>
          </a:p>
          <a:p>
            <a:r>
              <a:rPr dirty="0"/>
              <a:t>UiPath </a:t>
            </a:r>
            <a:r>
              <a:rPr dirty="0" err="1"/>
              <a:t>AgentHack</a:t>
            </a:r>
            <a:r>
              <a:rPr dirty="0"/>
              <a:t> 2026 · Track 3 · Agentic Testing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imary Presentation Layouts">
  <a:themeElements>
    <a:clrScheme name="UiPath colors">
      <a:dk1>
        <a:srgbClr val="172024"/>
      </a:dk1>
      <a:lt1>
        <a:srgbClr val="FFFFFF"/>
      </a:lt1>
      <a:dk2>
        <a:srgbClr val="9D9D9D"/>
      </a:dk2>
      <a:lt2>
        <a:srgbClr val="F6F6F6"/>
      </a:lt2>
      <a:accent1>
        <a:srgbClr val="FA4616"/>
      </a:accent1>
      <a:accent2>
        <a:srgbClr val="1E6482"/>
      </a:accent2>
      <a:accent3>
        <a:srgbClr val="A32200"/>
      </a:accent3>
      <a:accent4>
        <a:srgbClr val="0BA2B3"/>
      </a:accent4>
      <a:accent5>
        <a:srgbClr val="8B288A"/>
      </a:accent5>
      <a:accent6>
        <a:srgbClr val="FA7678"/>
      </a:accent6>
      <a:hlink>
        <a:srgbClr val="5BCBDE"/>
      </a:hlink>
      <a:folHlink>
        <a:srgbClr val="5BCBD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rimary Presentation Layouts">
  <a:themeElements>
    <a:clrScheme name="Primary Presentation Layouts">
      <a:dk1>
        <a:srgbClr val="000000"/>
      </a:dk1>
      <a:lt1>
        <a:srgbClr val="FFFFFF"/>
      </a:lt1>
      <a:dk2>
        <a:srgbClr val="9D9D9D"/>
      </a:dk2>
      <a:lt2>
        <a:srgbClr val="A32200"/>
      </a:lt2>
      <a:accent1>
        <a:srgbClr val="FCC0C5"/>
      </a:accent1>
      <a:accent2>
        <a:srgbClr val="5BCBDE"/>
      </a:accent2>
      <a:accent3>
        <a:srgbClr val="F6F6F6"/>
      </a:accent3>
      <a:accent4>
        <a:srgbClr val="434648"/>
      </a:accent4>
      <a:accent5>
        <a:srgbClr val="FFCBFF"/>
      </a:accent5>
      <a:accent6>
        <a:srgbClr val="1168CD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709</Words>
  <Application>Microsoft Office PowerPoint</Application>
  <PresentationFormat>自訂</PresentationFormat>
  <Paragraphs>69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NTR</vt:lpstr>
      <vt:lpstr>Arial</vt:lpstr>
      <vt:lpstr>Times New Roman</vt:lpstr>
      <vt:lpstr>Primary Presentation Layouts</vt:lpstr>
      <vt:lpstr>AgentClinic  Forensic analysis for AI agents, native to UiPath Test Cloud.</vt:lpstr>
      <vt:lpstr>PowerPoint 簡報</vt:lpstr>
      <vt:lpstr>Problem statement and proposed solution</vt:lpstr>
      <vt:lpstr>PowerPoint 簡報</vt:lpstr>
      <vt:lpstr>PowerPoint 簡報</vt:lpstr>
      <vt:lpstr>PowerPoint 簡報</vt:lpstr>
      <vt:lpstr>AgentClinic — coach, not surveillance.  Drop a trace in. Get an audit trail.  github.com/rainingsnow0914tw-ship-it/agentclinic UiPath AgentHack 2026 · Track 3 · Agentic Testing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Andreea Tomescu</dc:creator>
  <cp:lastModifiedBy>Chloe Kao</cp:lastModifiedBy>
  <cp:revision>1</cp:revision>
  <dcterms:created xsi:type="dcterms:W3CDTF">2025-06-06T15:41:05Z</dcterms:created>
  <dcterms:modified xsi:type="dcterms:W3CDTF">2026-06-22T16:57:15Z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0x0101006586BB0CA657274B8C976C7E0436D499</vt:lpwstr>
  </property>
  <property fmtid="{D5CDD505-2E9C-101B-9397-08002B2CF9AE}" pid="3" name="MediaServiceImageTags">
    <vt:lpwstr/>
  </property>
</Properties>
</file>